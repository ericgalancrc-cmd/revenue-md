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Clinical Documentation Audit - Criteria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Calibri"/>
              </a:rPr>
              <a:t>HealthProMed - Coding &amp; CDI Department - 16 elements - 5 weighted categories - 4 performance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6E6E"/>
                </a:solidFill>
                <a:latin typeface="Calibri"/>
              </a:rPr>
              <a:t>The 5 Weighted Categories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023360"/>
                <a:gridCol w="109728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 Items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</a:tr>
              <a:tr h="457200"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0F6E6E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Diagnosis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0F6E6E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Documentation Specificity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0F6E6E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SOAP Note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0F6E6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HCC Capture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0F6E6E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Documentation Supporting Quality Measures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rIns="45720" tIns="27432" bIns="27432"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38912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6E6E"/>
                </a:solidFill>
                <a:latin typeface="Calibri"/>
              </a:rPr>
              <a:t>Rating Scale (per element)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754880"/>
          <a:ext cx="685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45720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Element is fully and clearly documented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Element is present but incomplete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292608"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Element is missing, absent, or contradicted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73152" rIns="45720" tIns="18288" bIns="18288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Element does not apply (excluded from scoring)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05156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6E6E"/>
                </a:solidFill>
                <a:latin typeface="Calibri"/>
              </a:rPr>
              <a:t>Performance Bands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137160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463040"/>
            <a:ext cx="4343400" cy="1234440"/>
          </a:xfrm>
          <a:prstGeom prst="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087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Excellent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508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500" b="1">
                <a:solidFill>
                  <a:srgbClr val="1E40AF"/>
                </a:solidFill>
                <a:latin typeface="Calibri"/>
              </a:rPr>
              <a:t>&gt;=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920240"/>
            <a:ext cx="4023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Recognize provider - peer 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834640"/>
            <a:ext cx="137160" cy="1234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834640"/>
            <a:ext cx="4343400" cy="1234440"/>
          </a:xfrm>
          <a:prstGeom prst="rect">
            <a:avLst/>
          </a:prstGeom>
          <a:solidFill>
            <a:srgbClr val="C7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8803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Meets Expectations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8803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500" b="1">
                <a:solidFill>
                  <a:srgbClr val="16A34A"/>
                </a:solidFill>
                <a:latin typeface="Calibri"/>
              </a:rPr>
              <a:t>90 - 94%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91840"/>
            <a:ext cx="4023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Standard feedback - no action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206240"/>
            <a:ext cx="137160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4206240"/>
            <a:ext cx="4343400" cy="1234440"/>
          </a:xfrm>
          <a:prstGeom prst="rect">
            <a:avLst/>
          </a:prstGeom>
          <a:solidFill>
            <a:srgbClr val="FDE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2519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45309"/>
                </a:solidFill>
                <a:latin typeface="Calibri"/>
              </a:rPr>
              <a:t>Needs 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2519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500" b="1">
                <a:solidFill>
                  <a:srgbClr val="B45309"/>
                </a:solidFill>
                <a:latin typeface="Calibri"/>
              </a:rPr>
              <a:t>80 - 89%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4023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Targeted education - monitor next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5577840"/>
            <a:ext cx="137160" cy="1234440"/>
          </a:xfrm>
          <a:prstGeom prst="rect">
            <a:avLst/>
          </a:prstGeom>
          <a:solidFill>
            <a:srgbClr val="B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5577840"/>
            <a:ext cx="4343400" cy="1234440"/>
          </a:xfrm>
          <a:prstGeom prst="rect">
            <a:avLst/>
          </a:prstGeom>
          <a:solidFill>
            <a:srgbClr val="F8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6235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02424"/>
                </a:solidFill>
                <a:latin typeface="Calibri"/>
              </a:rPr>
              <a:t>Corrective Education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56235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500" b="1">
                <a:solidFill>
                  <a:srgbClr val="B02424"/>
                </a:solidFill>
                <a:latin typeface="Calibri"/>
              </a:rPr>
              <a:t>&lt; 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035040"/>
            <a:ext cx="4023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Structured plan + re-audit within 60-90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Overall Compliance % = weighted sum of section subtotals (excludes N/A items)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