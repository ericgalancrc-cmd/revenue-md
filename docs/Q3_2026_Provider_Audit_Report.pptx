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>
                <a:solidFill>
                  <a:srgbClr val="0F172A"/>
                </a:solidFill>
              </a:rPr>
              <a:t>Provider count per band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Providers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Excellent</c:v>
                </c:pt>
                <c:pt idx="1">
                  <c:v>Meets</c:v>
                </c:pt>
                <c:pt idx="2">
                  <c:v>Needs Impr</c:v>
                </c:pt>
                <c:pt idx="3">
                  <c:v>Corrective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88952" cy="1371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Quarterly Provider Audit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B0C4DE"/>
                </a:solidFill>
                <a:latin typeface="Calibri"/>
              </a:rPr>
              <a:t>Q3 2026 · HealthProMed · Coding &amp; CDI Department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12 providers · 120 audited claims · 6 payers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Calibri"/>
              </a:rPr>
              <a:t>Prepared by Eric Galan · Coding &amp; CDI Lead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1.  Executive summary + key numbers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2.  Band distribution across the cycle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3.  All providers ranked (highest → lowest)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4.  Needs Improvement band (3 providers)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5.  Corrective Education Required (9 providers)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6.  Critical finding — systemic pattern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7.  Recommendations (immediate · short-term · structural)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8.  Pending items +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Q3 2026 cycle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743200" cy="1554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Providers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20"/>
            <a:ext cx="24688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743200" cy="1554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50876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Charts Audited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4688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120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2743200" cy="1554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Avg Compliance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20"/>
            <a:ext cx="24688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76.7%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371600"/>
            <a:ext cx="2651760" cy="1554480"/>
          </a:xfrm>
          <a:prstGeom prst="rect">
            <a:avLst/>
          </a:prstGeom>
          <a:solidFill>
            <a:srgbClr val="B0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Meeting Expectations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874520"/>
            <a:ext cx="23774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83280"/>
            <a:ext cx="10972800" cy="3017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• 12 providers audited across the July–September 2026 cycle (120 charts total).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• 0 providers reached Excellent (≥95%). 0 providers reached Meets Expectations (90-94%).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• 3 providers scored Needs Improvement (80-89%) — targeted education recommended.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• 9 providers scored below 80% — formal Corrective Education Plans required.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• Program-wide average of 76.7% indicates a systemic documentation issue,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not isolated individual-provider issues.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Band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Distribution of the 12 providers across performance bands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5943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Band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Providers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Excellent (≥95%)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Meets Expectations (90-94%)</a:t>
                      </a:r>
                    </a:p>
                  </a:txBody>
                  <a:tcPr>
                    <a:solidFill>
                      <a:srgbClr val="C7F0D2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C7F0D2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Meets Expectations</a:t>
                      </a:r>
                    </a:p>
                  </a:txBody>
                  <a:tcPr>
                    <a:solidFill>
                      <a:srgbClr val="C7F0D2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Needs Improvement (80-89%)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 (&lt;80%)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675120" y="1463040"/>
          <a:ext cx="5120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669280"/>
            <a:ext cx="11338560" cy="640080"/>
          </a:xfrm>
          <a:prstGeom prst="rect">
            <a:avLst/>
          </a:prstGeom>
          <a:solidFill>
            <a:srgbClr val="FDE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B45309"/>
                </a:solidFill>
                <a:latin typeface="Calibri"/>
              </a:rPr>
              <a:t>⚠  Zero providers reached Meets Expectations or Excellent — this is a program-level signal.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All providers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Highest → lowest compliance % · color-coded by band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429000"/>
                <a:gridCol w="2514600"/>
                <a:gridCol w="1371600"/>
                <a:gridCol w="3429000"/>
              </a:tblGrid>
              <a:tr h="386861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Avg %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Band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Rolando Varga Santiago, MD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83.0%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Jose Beltran Schuck, MD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81.1%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Jose Velez Palmer, MD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IMC Vital Capitado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80.4%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Marcos Velez Cacho,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Miguel Rivera Viera,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Triple S Advantage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77.5%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Limary Cordero Rivera,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77.3%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Alwin Torres Ortiz,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75.3%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Victor Baez De Jesus,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Deborah Mendez Gines,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Miriam Castro Chandri,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Triple S Vital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Yolis Guerrero del Rio,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72.0%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868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Ivette Perez Pagan,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Vital Capitado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68.9%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Needs Improvement band (80-89%)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3 providers · targeted education, monitor next cycle, target 90%+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/>
                <a:gridCol w="2267712"/>
                <a:gridCol w="1133856"/>
                <a:gridCol w="4535424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Avg %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Recommended action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59436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Rolando Varga Santiago,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Send provider tip · monitor next audit cycle · target: 90%+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Jose Beltran Schuck,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81.1%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Send provider tip · monitor next audit cycle · target: 90%+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59436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Jose Velez Palmer,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IMC Vital Capitado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Send provider tip · monitor next audit cycle · target: 90%+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97680"/>
            <a:ext cx="11338560" cy="18288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F6E6E"/>
                </a:solidFill>
                <a:latin typeface="Calibri"/>
              </a:rPr>
              <a:t>Immediate action for these 3 providers: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Send a 1-page provider tip highlighting their top 2 documentation deficiencies.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Include their scorecard and specific chart examples (masked).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Monitor closely — re-audit in the next monthly cycle.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• Target: move all 3 into Meets Expectations (≥90%) within one cycle.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Corrective Education Required (&lt;80%)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9 providers · formal plan + 1-on-1 education + re-audit in 60-90 days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514600"/>
                <a:gridCol w="1143000"/>
                <a:gridCol w="43434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Avg %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Required action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Marcos Velez Cacho,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Miguel Rivera Viera,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Triple S Advantage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77.5%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Limary Cordero Rivera,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Alwin Torres Ortiz,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75.3%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Victor Baez De Jesus,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Deborah Mendez Gines,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Miriam Castro Chandri,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Triple S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Yolis Guerrero del Rio,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72.0%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50292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Ivette Perez Pagan,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MMM Vital Capitado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68.9%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Open plan · 1-on-1 education ·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Critical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The pattern suggests a systemic issue, not an individual-provider issue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338560" cy="1371600"/>
          </a:xfrm>
          <a:prstGeom prst="rect">
            <a:avLst/>
          </a:prstGeom>
          <a:solidFill>
            <a:srgbClr val="F8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B02424"/>
                </a:solidFill>
                <a:latin typeface="Calibri"/>
              </a:rPr>
              <a:t>0 of 12 providers reached Meets Expectations (≥90%).</a:t>
            </a:r>
          </a:p>
          <a:p>
            <a:pPr algn="l"/>
            <a:r>
              <a:rPr sz="2200" b="1">
                <a:solidFill>
                  <a:srgbClr val="B02424"/>
                </a:solidFill>
                <a:latin typeface="Calibri"/>
              </a:rPr>
              <a:t>9 of 12 providers scored below 80%.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338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0F6E6E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72800" cy="2926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When the majority of providers underperform on the same audit, the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   root cause is rarely 'all our providers are bad'.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More likely: EHR templates leave documentation gaps · training gaps in what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   'complete documentation' means · copy-forward workflow habits · onboarding gaps.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Treating this as 9 separate corrective plans in isolation will consume enormous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   time WITHOUT fixing the root cause. A structural intervention is needed in parallel.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Recommendations — Immediate (this week)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B0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1.  Open Corrective Education plans for all 9 providers in the &lt;80% band.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2.  Schedule 1-on-1 education sessions with each of the 9 providers.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3.  Send monthly scorecard emails to all 12 providers — include band,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top deficiencies, and next audit date.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4.  Notify the Medical Director of the 9 corrective-plan providers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so leadership can support the education effort.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5.  Log all corrective plans in the KPI Tracker under 'Corrective plans opened'.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Recommendations — Short-term (next 30 days)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1.  Deliver a 1-hour group education session to all providers focused on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the top 3 recurring deficiencies across this cycle.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2.  Re-audit each corrective-plan provider on a rolling schedule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(target 60–90 days from education date).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3.  Update the KPI Tracker Monthly Data tab with this cycle's data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so leadership sees the baseline trend line begin.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4.  Convert Alejandra Velez Alicea's PDF audit to the standard workbook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format so she's included in the next quarterly rollup.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Recommendations — Structural (next quarter)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1.  Investigate root causes of the systemic pattern: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• EHR template review — where are documentation gaps built in?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• Provider onboarding — is documentation training part of it?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• Copy-forward workflow — is it being audited?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2.  Pilot a structured documentation intervention with one clinic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(2 providers) — test whether it moves scores to 90%+.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3.  Escalate the systemic finding to the Compliance Committee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and Revenue Integrity leadership.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4.  Prepare 6-month business case for the first CRC hire.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Pending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338560" cy="22860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F6E6E"/>
                </a:solidFill>
                <a:latin typeface="Calibri"/>
              </a:rPr>
              <a:t>Alejandra Velez Alicea, 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Audit exists but is in PDF format (not the standard workbook).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Excluded from this quarter's automated ranking.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Action: transcribe to the standard workbook for inclusion in Q4 rollup.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Estimated time: 30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0F6E6E"/>
                </a:solidFill>
                <a:latin typeface="Calibri"/>
              </a:rPr>
              <a:t>Other program follow-ups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Confirm 9 corrective-plan providers with Medical Director this week.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Schedule group education session in October.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Refresh HCC lists for all 12 providers before Q4 cycle.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• Prepare Q4 audit sample pull (mid-October).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Ask of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Support needed to execute the corrective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1.  Approve the 9 Corrective Education plans and support the 1-on-1 sessions.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2.  Endorse the systemic root-cause investigation (EHR templates + workflow).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3.  Allocate provider time for the October group education session (1 hour).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4.  Approve moving forward with the CRC hire business case at 6-month checkpoint.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5.  Continue monthly 30-minute Coding &amp; CDI check-in on the executive calendar.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· Q3 2026 Provider Audit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88952" cy="1371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B0C4DE"/>
                </a:solidFill>
                <a:latin typeface="Calibri"/>
              </a:rPr>
              <a:t>All 12 provider audit workbooks are archived and available for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Eric Galan · Coding &amp; CDI Lead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