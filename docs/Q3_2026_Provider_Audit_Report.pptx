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88952" cy="1371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Quarterly Provider Audit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  <a:latin typeface="Calibri"/>
              </a:rPr>
              <a:t>Q3 2026 - HealthProMed - Coding &amp; CDI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13 providers - 130 audited claims - 6 payers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Prepared by Eric Galan - Coding &amp; CDI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1.  Executive summary + key numbers</a:t>
            </a:r>
          </a:p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2.  Band distribution across the cycle</a:t>
            </a:r>
          </a:p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3.  All providers ranked (highest to lowest)</a:t>
            </a:r>
          </a:p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4.  Needs Improvement band (3 providers)</a:t>
            </a:r>
          </a:p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5.  Corrective Education Required (10 providers)</a:t>
            </a:r>
          </a:p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6.  Critical finding - systemic pattern</a:t>
            </a:r>
          </a:p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7.  Recommendations (immediate - short-term - structural)</a:t>
            </a:r>
          </a:p>
          <a:p>
            <a:pPr algn="l"/>
            <a:r>
              <a:rPr sz="2200" b="0">
                <a:solidFill>
                  <a:srgbClr val="0F172A"/>
                </a:solidFill>
                <a:latin typeface="Calibri"/>
              </a:rPr>
              <a:t>8.  Data source note +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Q3 2026 cycle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743200" cy="1554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Providers Audited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2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743200" cy="1554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5087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Charts Audited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7452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2743200" cy="15544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Avg Compliance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74520"/>
            <a:ext cx="24688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76.4%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371600"/>
            <a:ext cx="2651760" cy="1554480"/>
          </a:xfrm>
          <a:prstGeom prst="rect">
            <a:avLst/>
          </a:prstGeom>
          <a:solidFill>
            <a:srgbClr val="B0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Meeting Expectations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874520"/>
            <a:ext cx="23774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11430000" cy="320040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83280"/>
            <a:ext cx="10972800" cy="3017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- 13 providers audited across the July-September 2026 cycle (130 charts total).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- 0 providers reached Excellent (&gt;=95%). 0 providers reached Meets Expectations (90-94%).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- 3 providers scored Needs Improvement (80-89%) - targeted education recommended.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- 10 providers scored below 80% - formal Corrective Education Plans required.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- Program-wide average of 76.4% indicates a systemic documentation issue,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   not isolated individual-provider issues.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Band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Distribution of providers across performance bands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943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188720"/>
                <a:gridCol w="118872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 Providers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</a:tr>
              <a:tr h="64008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Excellent (&gt;=95%)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</a:tr>
              <a:tr h="64008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Meets Expectations (90-94%)</a:t>
                      </a:r>
                    </a:p>
                  </a:txBody>
                  <a:tcPr>
                    <a:solidFill>
                      <a:srgbClr val="C7F0D2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C7F0D2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Meets Expectations</a:t>
                      </a:r>
                    </a:p>
                  </a:txBody>
                  <a:tcPr>
                    <a:solidFill>
                      <a:srgbClr val="C7F0D2"/>
                    </a:solidFill>
                  </a:tcPr>
                </a:tc>
              </a:tr>
              <a:tr h="64008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Needs Improvement (80-89%)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Needs Improvement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</a:tr>
              <a:tr h="64008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 (&lt;80%)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0" y="1463040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Provider count per 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01168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Excellent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48840"/>
            <a:ext cx="4114800" cy="36576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98680" y="201168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E40AF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8036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Meets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017520"/>
            <a:ext cx="4114800" cy="36576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98680" y="288036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4904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Needs Impr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886200"/>
            <a:ext cx="4114800" cy="36576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886200"/>
            <a:ext cx="1234440" cy="365760"/>
          </a:xfrm>
          <a:prstGeom prst="rect">
            <a:avLst/>
          </a:prstGeom>
          <a:solidFill>
            <a:srgbClr val="FDE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298680" y="374904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1772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Corrective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4754880"/>
            <a:ext cx="4114800" cy="36576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4754880"/>
            <a:ext cx="4114800" cy="365760"/>
          </a:xfrm>
          <a:prstGeom prst="rect">
            <a:avLst/>
          </a:prstGeom>
          <a:solidFill>
            <a:srgbClr val="F8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298680" y="4617720"/>
            <a:ext cx="548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B02424"/>
                </a:solidFill>
                <a:latin typeface="Calibri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11338560" cy="640080"/>
          </a:xfrm>
          <a:prstGeom prst="rect">
            <a:avLst/>
          </a:prstGeom>
          <a:solidFill>
            <a:srgbClr val="FDE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B45309"/>
                </a:solidFill>
                <a:latin typeface="Calibri"/>
              </a:rPr>
              <a:t>Zero providers reached Meets Expectations or Excellent - this is a program-level signal.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All providers ranked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Highest to lowest compliance % - color-coded by band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429000"/>
                <a:gridCol w="2514600"/>
                <a:gridCol w="1371600"/>
                <a:gridCol w="3429000"/>
              </a:tblGrid>
              <a:tr h="37229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Payer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Avg %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Rolando Varga Santiago, MD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Vital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83.0%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Needs Improvement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Jose Beltran Schuck, MD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MCS Classicare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81.1%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Needs Improvement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Jose Velez Palmer, MD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IMC Vital Capitado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80.4%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Needs Improvement</a:t>
                      </a:r>
                    </a:p>
                  </a:txBody>
                  <a:tcPr>
                    <a:solidFill>
                      <a:srgbClr val="FDE9C0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Marcos Velez Cacho,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MCS Classicare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Miguel Rivera Viera,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Triple S Advantage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77.5%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Limary Cordero Rivera,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Advantage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77.3%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Alwin Torres Ortiz,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Advantage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75.3%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Victor Baez De Jesus,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MCS Classicare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75.2%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Deborah Mendez Gines,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Vital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Miriam Castro Chandri,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Triple S Vital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Alejandra Velez Alicea,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Vital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72.9%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1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Yolis Guerrero del Rio,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MCS Classicare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72.0%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  <a:tr h="372297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Ivette Perez Pagan, MD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Vital Capitado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68.9%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Corrective Education Required</a:t>
                      </a:r>
                    </a:p>
                  </a:txBody>
                  <a:tcPr>
                    <a:solidFill>
                      <a:srgbClr val="F8C9C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Needs Improvement band (80-89%)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3 providers - targeted education, monitor next cycle, target 90%+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1568"/>
                <a:gridCol w="2267712"/>
                <a:gridCol w="1133856"/>
                <a:gridCol w="4535424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Payer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Avg %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Recommended action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</a:tr>
              <a:tr h="59436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Rolando Varga Santiago,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Vital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Send provider tip - monitor next cycle - target 90%+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Jose Beltran Schuck, MD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MCS Classicare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81.1%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Send provider tip - monitor next cycle - target 90%+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  <a:tr h="59436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Jose Velez Palmer,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IMC Vital Capitado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Send provider tip - monitor next cycle - target 90%+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297680"/>
            <a:ext cx="11338560" cy="182880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6E6E"/>
                </a:solidFill>
                <a:latin typeface="Calibri"/>
              </a:rPr>
              <a:t>Immediate action for these providers: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0060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- Send a 1-page provider tip highlighting their top 2 documentation deficiencies.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- Include their scorecard and specific chart examples (masked).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- Monitor closely - re-audit in the next monthly cycle.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- Target: move all into Meets Expectations (&gt;=90%) within one cycle.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Corrective Education Required (&lt;80%)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10 providers - formal plan + 1-on-1 education + re-audit in 60-90 days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2514600"/>
                <a:gridCol w="1143000"/>
                <a:gridCol w="43434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Payer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Avg %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Required action</a:t>
                      </a:r>
                    </a:p>
                  </a:txBody>
                  <a:tcPr>
                    <a:solidFill>
                      <a:srgbClr val="0F6E6E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Marcos Velez Cacho,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MCS Classicare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Miguel Rivera Viera, MD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Triple S Advantage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77.5%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Limary Cordero Rivera,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Alwin Torres Ortiz, MD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Advantage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75.3%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Victor Baez De Jesus,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MCS Classicare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Deborah Mendez Gines, MD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Vital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Miriam Castro Chandri,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Triple S Vital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Alejandra Velez Alicea, MD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Vital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72.9%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Yolis Guerrero del Rio, 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MCS Classicare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Ivette Perez Pagan, MD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MMM Vital Capitado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68.9%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tc>
                  <a:txBody>
                    <a:bodyPr wrap="square" lIns="54864" rIns="54864" tIns="27432" bIns="27432"/>
                    <a:lstStyle/>
                    <a:p>
                      <a:pPr algn="l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Open plan - 1-on-1 education - re-audit 60-90 d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Critical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The pattern suggests a systemic issue, not individual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338560" cy="1371600"/>
          </a:xfrm>
          <a:prstGeom prst="rect">
            <a:avLst/>
          </a:prstGeom>
          <a:solidFill>
            <a:srgbClr val="F8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B02424"/>
                </a:solidFill>
                <a:latin typeface="Calibri"/>
              </a:rPr>
              <a:t>0 of 13 providers reached Meets Expectations (&gt;=90%).</a:t>
            </a:r>
          </a:p>
          <a:p>
            <a:pPr algn="l"/>
            <a:r>
              <a:rPr sz="2200" b="1">
                <a:solidFill>
                  <a:srgbClr val="B02424"/>
                </a:solidFill>
                <a:latin typeface="Calibri"/>
              </a:rPr>
              <a:t>10 of 13 providers scored below 80%.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11338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6E6E"/>
                </a:solidFill>
                <a:latin typeface="Calibri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72800" cy="2926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- When the majority of providers underperform on the same audit, the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   root cause is rarely 'all our providers are bad'.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- More likely: EHR templates leave documentation gaps - training gaps in what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   'complete documentation' means - copy-forward workflow habits - onboarding gaps.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- Treating this as 10 separate corrective plans in isolation will consume enormous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   time WITHOUT fixing the root cause. A structural intervention is needed in parallel.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Recommendations - Immediate (this week)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5029200"/>
          </a:xfrm>
          <a:prstGeom prst="rect">
            <a:avLst/>
          </a:prstGeom>
          <a:solidFill>
            <a:srgbClr val="B0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1.  Open Corrective Education plans for all 10 providers in the &lt;80% band.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2.  Schedule 1-on-1 education sessions with each of the 10 providers.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3.  Send monthly scorecard emails to all 13 providers - include band,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     top deficiencies, and next audit date.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4.  Notify the Medical Director of the 10 corrective-plan providers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     so leadership can support the education effort.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5.  Log all corrective plans in the KPI Tracker under 'Corrective plans opened'.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Recommendations - Short-term (next 30 days)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5029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1.  Deliver a 1-hour group education session to all providers focused on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     the top 3 recurring deficiencies across this cycle.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2.  Re-audit each corrective-plan provider on a rolling schedule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     (target 60-90 days from education date).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3.  Update the KPI Tracker Monthly Data tab with this cycle's data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     so leadership sees the baseline trend line begin.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4.  Migrate Alejandra Velez Alicea's audit from PDF into the standard workbook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     format so future rollups auto-populate.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Recommendations - Structural (next quarter)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502920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1.  Investigate root causes of the systemic pattern: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     - EHR template review - where are documentation gaps built in?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     - Provider onboarding - is documentation training part of it?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     - Copy-forward workflow - is it being audited?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2.  Pilot a structured documentation intervention with one clinic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     (2 providers) - test whether it moves scores to 90%+.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3.  Escalate the systemic finding to the Compliance Committee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     and Revenue Integrity leadership.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4.  Prepare 6-month business case for the first CRC hire.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 source note - Alejandra Velez Alicea, MD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338560" cy="274320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6E6E"/>
                </a:solidFill>
                <a:latin typeface="Calibri"/>
              </a:rPr>
              <a:t>Alejandra Velez Alicea, MD - included in this quarter's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- Compliance score: 72.9% (Corrective Education Required, rank #11 of 13)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- 10 claims audited (DOS 06/10/2026 - 09/06/2026)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- Data source: extracted from PDF export of the Provider Metrics tab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- Recommendation: migrate to the standard Excel workbook format so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   future rollups auto-populate without manual PDF conversion.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6E6E"/>
                </a:solidFill>
                <a:latin typeface="Calibri"/>
              </a:rPr>
              <a:t>Other program follow-ups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- Confirm the 10 corrective-plan providers with Medical Director this week.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- Schedule group education session in October.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- Refresh HCC lists for all 13 providers before Q4 cycle.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Calibri"/>
              </a:rPr>
              <a:t>- Prepare Q4 audit sample pull (mid-October).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Ask of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Support needed to execute the corrective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1.  Approve the 10 Corrective Education plans and support the 1-on-1 sessions.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2.  Endorse the systemic root-cause investigation (EHR templates + workflow).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3.  Allocate provider time for the October group education session (1 hour).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4.  Approve moving forward with the CRC hire business case at 6-month checkpoint.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/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5.  Continue monthly 30-minute Coding &amp; CDI check-in on the executive calendar.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HealthProMed - Q3 2026 Provider Audit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88952" cy="137160"/>
          </a:xfrm>
          <a:prstGeom prst="rect">
            <a:avLst/>
          </a:prstGeom>
          <a:solidFill>
            <a:srgbClr val="0F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  <a:latin typeface="Calibri"/>
              </a:rPr>
              <a:t>All 13 provider audits are archived and available for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Eric Galan - Coding &amp; CDI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